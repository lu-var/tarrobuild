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ersona frente a piezas de PC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80960" y="0"/>
            <a:ext cx="450799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229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PROYECTO SEMESTRAL · EVALUACIÓN PARCIAL 2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4F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TarroBuild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5603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Plataforma online para asistencia de armado de computadores y análisis de compatibilidad de hardware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93192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5E6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Asignatura: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Taller Base de Datos BDY1103-010V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5E6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Entrega: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Evaluación Parcial 2 — Presentación del proyecto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5E6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Equipo: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Sebastián Bello · Juan Pablo Casassa · Claudio Jaime · Lucas Vargas</a:t>
            </a:r>
            <a:endParaRPr lang="en-US" sz="1300" dirty="0"/>
          </a:p>
        </p:txBody>
      </p:sp>
      <p:sp>
        <p:nvSpPr>
          <p:cNvPr id="7" name="Logo fondo"/>
          <p:cNvSpPr/>
          <p:nvPr/>
        </p:nvSpPr>
        <p:spPr>
          <a:xfrm>
            <a:off x="548640" y="5760720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pic>
        <p:nvPicPr>
          <p:cNvPr id="8" name="Image 1" descr="Duoc U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852160"/>
            <a:ext cx="1517904" cy="3776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CONTENIDOS DE ESTA PRESENTACIÓN</a:t>
            </a:r>
            <a:endParaRPr lang="en-US" sz="1100" dirty="0"/>
          </a:p>
        </p:txBody>
      </p:sp>
      <p:sp>
        <p:nvSpPr>
          <p:cNvPr id="3" name="Logo fondo"/>
          <p:cNvSpPr/>
          <p:nvPr/>
        </p:nvSpPr>
        <p:spPr>
          <a:xfrm>
            <a:off x="10424160" y="292608"/>
            <a:ext cx="121615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/>
        </p:spPr>
      </p:sp>
      <p:pic>
        <p:nvPicPr>
          <p:cNvPr id="4" name="Image 0" descr="Duoc U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65760"/>
            <a:ext cx="1033272" cy="2569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7772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BDY1103 · Taller Base de Datos  |  Evaluación Parcial 2 — Proyecto TarroBuild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360152" y="64008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14</a:t>
            </a:r>
            <a:endParaRPr lang="en-US" sz="1000" dirty="0"/>
          </a:p>
        </p:txBody>
      </p:sp>
      <p:sp>
        <p:nvSpPr>
          <p:cNvPr id="8" name="Agenda 1"/>
          <p:cNvSpPr/>
          <p:nvPr/>
        </p:nvSpPr>
        <p:spPr>
          <a:xfrm>
            <a:off x="548640" y="1783080"/>
            <a:ext cx="5449824" cy="822960"/>
          </a:xfrm>
          <a:prstGeom prst="roundRect">
            <a:avLst>
              <a:gd name="adj" fmla="val 11111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78308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5E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17830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Contexto y problemática</a:t>
            </a:r>
            <a:endParaRPr lang="en-US" sz="1600" dirty="0"/>
          </a:p>
        </p:txBody>
      </p:sp>
      <p:sp>
        <p:nvSpPr>
          <p:cNvPr id="11" name="Agenda 2"/>
          <p:cNvSpPr/>
          <p:nvPr/>
        </p:nvSpPr>
        <p:spPr>
          <a:xfrm>
            <a:off x="548640" y="2834640"/>
            <a:ext cx="5449824" cy="822960"/>
          </a:xfrm>
          <a:prstGeom prst="roundRect">
            <a:avLst>
              <a:gd name="adj" fmla="val 11111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28346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5E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1645920" y="28346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Identificación del proyecto</a:t>
            </a:r>
            <a:endParaRPr lang="en-US" sz="1600" dirty="0"/>
          </a:p>
        </p:txBody>
      </p:sp>
      <p:sp>
        <p:nvSpPr>
          <p:cNvPr id="14" name="Agenda 3"/>
          <p:cNvSpPr/>
          <p:nvPr/>
        </p:nvSpPr>
        <p:spPr>
          <a:xfrm>
            <a:off x="548640" y="3886200"/>
            <a:ext cx="5449824" cy="822960"/>
          </a:xfrm>
          <a:prstGeom prst="roundRect">
            <a:avLst>
              <a:gd name="adj" fmla="val 11111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38862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5E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1645920" y="38862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Actores y sus necesidades</a:t>
            </a:r>
            <a:endParaRPr lang="en-US" sz="1600" dirty="0"/>
          </a:p>
        </p:txBody>
      </p:sp>
      <p:sp>
        <p:nvSpPr>
          <p:cNvPr id="17" name="Agenda 4"/>
          <p:cNvSpPr/>
          <p:nvPr/>
        </p:nvSpPr>
        <p:spPr>
          <a:xfrm>
            <a:off x="548640" y="4937760"/>
            <a:ext cx="5449824" cy="822960"/>
          </a:xfrm>
          <a:prstGeom prst="roundRect">
            <a:avLst>
              <a:gd name="adj" fmla="val 11111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49377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5E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1645920" y="49377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Objetivo del proyecto y visión del producto</a:t>
            </a:r>
            <a:endParaRPr lang="en-US" sz="1600" dirty="0"/>
          </a:p>
        </p:txBody>
      </p:sp>
      <p:sp>
        <p:nvSpPr>
          <p:cNvPr id="20" name="Agenda 5"/>
          <p:cNvSpPr/>
          <p:nvPr/>
        </p:nvSpPr>
        <p:spPr>
          <a:xfrm>
            <a:off x="6190488" y="1783080"/>
            <a:ext cx="5449824" cy="822960"/>
          </a:xfrm>
          <a:prstGeom prst="roundRect">
            <a:avLst>
              <a:gd name="adj" fmla="val 11111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64808" y="178308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5E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7287768" y="17830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Componentes del sistema</a:t>
            </a:r>
            <a:endParaRPr lang="en-US" sz="1600" dirty="0"/>
          </a:p>
        </p:txBody>
      </p:sp>
      <p:sp>
        <p:nvSpPr>
          <p:cNvPr id="23" name="Agenda 6"/>
          <p:cNvSpPr/>
          <p:nvPr/>
        </p:nvSpPr>
        <p:spPr>
          <a:xfrm>
            <a:off x="6190488" y="2834640"/>
            <a:ext cx="5449824" cy="822960"/>
          </a:xfrm>
          <a:prstGeom prst="roundRect">
            <a:avLst>
              <a:gd name="adj" fmla="val 11111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64808" y="28346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5E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7287768" y="28346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 de Base de Datos</a:t>
            </a:r>
            <a:endParaRPr lang="en-US" sz="1600" dirty="0"/>
          </a:p>
        </p:txBody>
      </p:sp>
      <p:sp>
        <p:nvSpPr>
          <p:cNvPr id="26" name="Agenda 7"/>
          <p:cNvSpPr/>
          <p:nvPr/>
        </p:nvSpPr>
        <p:spPr>
          <a:xfrm>
            <a:off x="6190488" y="3886200"/>
            <a:ext cx="5449824" cy="822960"/>
          </a:xfrm>
          <a:prstGeom prst="roundRect">
            <a:avLst>
              <a:gd name="adj" fmla="val 11111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64808" y="38862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5E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2400" dirty="0"/>
          </a:p>
        </p:txBody>
      </p:sp>
      <p:sp>
        <p:nvSpPr>
          <p:cNvPr id="28" name="Text 25"/>
          <p:cNvSpPr txBox="1"/>
          <p:nvPr/>
        </p:nvSpPr>
        <p:spPr>
          <a:xfrm>
            <a:off x="7287768" y="38862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Demostración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CONTEXTO</a:t>
            </a:r>
            <a:endParaRPr lang="en-US" sz="1100" dirty="0"/>
          </a:p>
        </p:txBody>
      </p:sp>
      <p:sp>
        <p:nvSpPr>
          <p:cNvPr id="3" name="Logo fondo"/>
          <p:cNvSpPr/>
          <p:nvPr/>
        </p:nvSpPr>
        <p:spPr>
          <a:xfrm>
            <a:off x="10424160" y="292608"/>
            <a:ext cx="121615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/>
        </p:spPr>
      </p:sp>
      <p:pic>
        <p:nvPicPr>
          <p:cNvPr id="4" name="Image 0" descr="Duoc U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65760"/>
            <a:ext cx="1033272" cy="2569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7772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desafío detrás de TarroBuild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BDY1103 · Taller Base de Datos  |  Evaluación Parcial 2 — Proyecto TarroBuild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360152" y="64008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14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73736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 Chile, armar un PC por piezas sigue siendo complejo: la información técnica de compatibilidad está dispersa y ninguna tienda local valida la selección antes de comprar.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063240"/>
            <a:ext cx="6035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Los usuarios comparan precios y fichas a mano en múltiples sitios, foros y videos.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Socket, RAM, placa madre, TDP y fuente de poder deben cruzarse manualmente.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Una incompatibilidad se traduce en sobrecosto, devolución y tiempo perdido.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Hay documentación técnica clave solo en inglés.</a:t>
            </a:r>
            <a:endParaRPr lang="en-US" sz="1500" dirty="0"/>
          </a:p>
        </p:txBody>
      </p:sp>
      <p:sp>
        <p:nvSpPr>
          <p:cNvPr id="10" name="Propuesta"/>
          <p:cNvSpPr/>
          <p:nvPr/>
        </p:nvSpPr>
        <p:spPr>
          <a:xfrm>
            <a:off x="7040880" y="1737360"/>
            <a:ext cx="4599432" cy="4297680"/>
          </a:xfrm>
          <a:prstGeom prst="roundRect">
            <a:avLst>
              <a:gd name="adj" fmla="val 2128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4F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¿Qué propone TarroBuild?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315200" y="242316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Una plataforma web que valida la compatibilidad de cada build, estima costo y consumo energético y recomienda mejoras antes de comprar.</a:t>
            </a:r>
            <a:endParaRPr lang="en-US" sz="1200" dirty="0"/>
          </a:p>
        </p:txBody>
      </p:sp>
      <p:sp>
        <p:nvSpPr>
          <p:cNvPr id="13" name="Beneficio 1"/>
          <p:cNvSpPr/>
          <p:nvPr/>
        </p:nvSpPr>
        <p:spPr>
          <a:xfrm>
            <a:off x="7315200" y="3566160"/>
            <a:ext cx="4069080" cy="502920"/>
          </a:xfrm>
          <a:prstGeom prst="roundRect">
            <a:avLst>
              <a:gd name="adj" fmla="val 18182"/>
            </a:avLst>
          </a:prstGeom>
          <a:solidFill>
            <a:srgbClr val="123A5E"/>
          </a:solidFill>
          <a:ln/>
        </p:spPr>
      </p:sp>
      <p:sp>
        <p:nvSpPr>
          <p:cNvPr id="14" name="Shape 11"/>
          <p:cNvSpPr/>
          <p:nvPr/>
        </p:nvSpPr>
        <p:spPr>
          <a:xfrm>
            <a:off x="7424928" y="3657600"/>
            <a:ext cx="320040" cy="320040"/>
          </a:xfrm>
          <a:prstGeom prst="ellipse">
            <a:avLst/>
          </a:prstGeom>
          <a:solidFill>
            <a:srgbClr val="35E6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1339" y="3744011"/>
            <a:ext cx="147218" cy="14721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909560" y="35661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Compatibilidad automática</a:t>
            </a:r>
            <a:endParaRPr lang="en-US" sz="1300" dirty="0"/>
          </a:p>
        </p:txBody>
      </p:sp>
      <p:sp>
        <p:nvSpPr>
          <p:cNvPr id="17" name="Beneficio 2"/>
          <p:cNvSpPr/>
          <p:nvPr/>
        </p:nvSpPr>
        <p:spPr>
          <a:xfrm>
            <a:off x="7315200" y="4178808"/>
            <a:ext cx="4069080" cy="502920"/>
          </a:xfrm>
          <a:prstGeom prst="roundRect">
            <a:avLst>
              <a:gd name="adj" fmla="val 18182"/>
            </a:avLst>
          </a:prstGeom>
          <a:solidFill>
            <a:srgbClr val="123A5E"/>
          </a:solidFill>
          <a:ln/>
        </p:spPr>
      </p:sp>
      <p:sp>
        <p:nvSpPr>
          <p:cNvPr id="18" name="Shape 14"/>
          <p:cNvSpPr/>
          <p:nvPr/>
        </p:nvSpPr>
        <p:spPr>
          <a:xfrm>
            <a:off x="7424928" y="4270248"/>
            <a:ext cx="320040" cy="320040"/>
          </a:xfrm>
          <a:prstGeom prst="ellipse">
            <a:avLst/>
          </a:prstGeom>
          <a:solidFill>
            <a:srgbClr val="35E6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339" y="4356659"/>
            <a:ext cx="147218" cy="14721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909560" y="41788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Costo y consumo estimados</a:t>
            </a:r>
            <a:endParaRPr lang="en-US" sz="1300" dirty="0"/>
          </a:p>
        </p:txBody>
      </p:sp>
      <p:sp>
        <p:nvSpPr>
          <p:cNvPr id="21" name="Beneficio 3"/>
          <p:cNvSpPr/>
          <p:nvPr/>
        </p:nvSpPr>
        <p:spPr>
          <a:xfrm>
            <a:off x="7315200" y="4791456"/>
            <a:ext cx="4069080" cy="502920"/>
          </a:xfrm>
          <a:prstGeom prst="roundRect">
            <a:avLst>
              <a:gd name="adj" fmla="val 18182"/>
            </a:avLst>
          </a:prstGeom>
          <a:solidFill>
            <a:srgbClr val="123A5E"/>
          </a:solidFill>
          <a:ln/>
        </p:spPr>
      </p:sp>
      <p:sp>
        <p:nvSpPr>
          <p:cNvPr id="22" name="Shape 17"/>
          <p:cNvSpPr/>
          <p:nvPr/>
        </p:nvSpPr>
        <p:spPr>
          <a:xfrm>
            <a:off x="7424928" y="4882896"/>
            <a:ext cx="320040" cy="320040"/>
          </a:xfrm>
          <a:prstGeom prst="ellipse">
            <a:avLst/>
          </a:prstGeom>
          <a:solidFill>
            <a:srgbClr val="35E6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1339" y="4969307"/>
            <a:ext cx="147218" cy="14721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909560" y="479145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Recomendaciones de mejora</a:t>
            </a:r>
            <a:endParaRPr lang="en-US" sz="1300" dirty="0"/>
          </a:p>
        </p:txBody>
      </p:sp>
      <p:sp>
        <p:nvSpPr>
          <p:cNvPr id="25" name="Beneficio 4"/>
          <p:cNvSpPr/>
          <p:nvPr/>
        </p:nvSpPr>
        <p:spPr>
          <a:xfrm>
            <a:off x="7315200" y="5404104"/>
            <a:ext cx="4069080" cy="502920"/>
          </a:xfrm>
          <a:prstGeom prst="roundRect">
            <a:avLst>
              <a:gd name="adj" fmla="val 18182"/>
            </a:avLst>
          </a:prstGeom>
          <a:solidFill>
            <a:srgbClr val="123A5E"/>
          </a:solidFill>
          <a:ln/>
        </p:spPr>
      </p:sp>
      <p:sp>
        <p:nvSpPr>
          <p:cNvPr id="26" name="Shape 20"/>
          <p:cNvSpPr/>
          <p:nvPr/>
        </p:nvSpPr>
        <p:spPr>
          <a:xfrm>
            <a:off x="7424928" y="5495544"/>
            <a:ext cx="320040" cy="320040"/>
          </a:xfrm>
          <a:prstGeom prst="ellipse">
            <a:avLst/>
          </a:prstGeom>
          <a:solidFill>
            <a:srgbClr val="35E6F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1339" y="5581955"/>
            <a:ext cx="147218" cy="14721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909560" y="540410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Builds guardadas e historial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IDENTIFICACIÓN DEL PROYECTO</a:t>
            </a:r>
            <a:endParaRPr lang="en-US" sz="1100" dirty="0"/>
          </a:p>
        </p:txBody>
      </p:sp>
      <p:sp>
        <p:nvSpPr>
          <p:cNvPr id="3" name="Logo fondo"/>
          <p:cNvSpPr/>
          <p:nvPr/>
        </p:nvSpPr>
        <p:spPr>
          <a:xfrm>
            <a:off x="10424160" y="292608"/>
            <a:ext cx="121615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/>
        </p:spPr>
      </p:sp>
      <p:pic>
        <p:nvPicPr>
          <p:cNvPr id="4" name="Image 0" descr="Duoc U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65760"/>
            <a:ext cx="1033272" cy="2569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7772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¿Qué es TarroBuild?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BDY1103 · Taller Base de Datos  |  Evaluación Parcial 2 — Proyecto TarroBuild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360152" y="64008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14</a:t>
            </a:r>
            <a:endParaRPr lang="en-US" sz="1000" dirty="0"/>
          </a:p>
        </p:txBody>
      </p:sp>
      <p:sp>
        <p:nvSpPr>
          <p:cNvPr id="8" name="Fila 1"/>
          <p:cNvSpPr/>
          <p:nvPr/>
        </p:nvSpPr>
        <p:spPr>
          <a:xfrm>
            <a:off x="548640" y="169164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E6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Nombre del proyecto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657600" y="1691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TarroBuild — Plataforma online para asistencia de armado de computadores y análisis de compatibilidad de hardware</a:t>
            </a:r>
            <a:endParaRPr lang="en-US" sz="1400" dirty="0"/>
          </a:p>
        </p:txBody>
      </p:sp>
      <p:sp>
        <p:nvSpPr>
          <p:cNvPr id="11" name="Fila 2"/>
          <p:cNvSpPr/>
          <p:nvPr/>
        </p:nvSpPr>
        <p:spPr>
          <a:xfrm>
            <a:off x="548640" y="2404872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A1F38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240487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E6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Tipo de solución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0" y="240487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Plataforma web con arquitectura de 11 microservicios REST detrás de un API Gateway</a:t>
            </a:r>
            <a:endParaRPr lang="en-US" sz="1400" dirty="0"/>
          </a:p>
        </p:txBody>
      </p:sp>
      <p:sp>
        <p:nvSpPr>
          <p:cNvPr id="14" name="Fila 3"/>
          <p:cNvSpPr/>
          <p:nvPr/>
        </p:nvSpPr>
        <p:spPr>
          <a:xfrm>
            <a:off x="548640" y="3118104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311810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E6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Usuarios objetivo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657600" y="3118104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Personas que arman o actualizan un computador en Chile</a:t>
            </a:r>
            <a:endParaRPr lang="en-US" sz="1400" dirty="0"/>
          </a:p>
        </p:txBody>
      </p:sp>
      <p:sp>
        <p:nvSpPr>
          <p:cNvPr id="17" name="Fila 4"/>
          <p:cNvSpPr/>
          <p:nvPr/>
        </p:nvSpPr>
        <p:spPr>
          <a:xfrm>
            <a:off x="548640" y="3831336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A1F38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383133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E6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Alcance de esta etapa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3657600" y="3831336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Requerimientos, historias de usuario, definición de microservicios y despliegue en Render</a:t>
            </a:r>
            <a:endParaRPr lang="en-US" sz="1400" dirty="0"/>
          </a:p>
        </p:txBody>
      </p:sp>
      <p:sp>
        <p:nvSpPr>
          <p:cNvPr id="20" name="Fila 5"/>
          <p:cNvSpPr/>
          <p:nvPr/>
        </p:nvSpPr>
        <p:spPr>
          <a:xfrm>
            <a:off x="548640" y="4544568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454456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E6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Tecnologías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3657600" y="45445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Java 21 · Spring Boot · Maven · H2 / MySQL / PostgreSQL · Docker Compose</a:t>
            </a:r>
            <a:endParaRPr lang="en-US" sz="1400" dirty="0"/>
          </a:p>
        </p:txBody>
      </p:sp>
      <p:sp>
        <p:nvSpPr>
          <p:cNvPr id="23" name="Fila 6"/>
          <p:cNvSpPr/>
          <p:nvPr/>
        </p:nvSpPr>
        <p:spPr>
          <a:xfrm>
            <a:off x="548640" y="525780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A1F38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5257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E6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Metodología de trabajo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3657600" y="5257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flow con ramas y pull requests; trazabilidad sin tablero externo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ACTORES DEL PROYECTO</a:t>
            </a:r>
            <a:endParaRPr lang="en-US" sz="1100" dirty="0"/>
          </a:p>
        </p:txBody>
      </p:sp>
      <p:sp>
        <p:nvSpPr>
          <p:cNvPr id="3" name="Logo fondo"/>
          <p:cNvSpPr/>
          <p:nvPr/>
        </p:nvSpPr>
        <p:spPr>
          <a:xfrm>
            <a:off x="10424160" y="292608"/>
            <a:ext cx="121615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/>
        </p:spPr>
      </p:sp>
      <p:pic>
        <p:nvPicPr>
          <p:cNvPr id="4" name="Image 0" descr="Duoc U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65760"/>
            <a:ext cx="1033272" cy="2569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7772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¿Quiénes interactúan con TarroBuild?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BDY1103 · Taller Base de Datos  |  Evaluación Parcial 2 — Proyecto TarroBuild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360152" y="64008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14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Cuatro actores fueron identificados en el levantamiento de requerimientos, cada uno con objetivos distintos frente al armado de un PC.</a:t>
            </a:r>
            <a:endParaRPr lang="en-US" sz="1400" dirty="0"/>
          </a:p>
        </p:txBody>
      </p:sp>
      <p:sp>
        <p:nvSpPr>
          <p:cNvPr id="9" name="Actor 1"/>
          <p:cNvSpPr/>
          <p:nvPr/>
        </p:nvSpPr>
        <p:spPr>
          <a:xfrm>
            <a:off x="548640" y="2286000"/>
            <a:ext cx="2560320" cy="3611880"/>
          </a:xfrm>
          <a:prstGeom prst="roundRect">
            <a:avLst>
              <a:gd name="adj" fmla="val 3571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2560320"/>
            <a:ext cx="731520" cy="731520"/>
          </a:xfrm>
          <a:prstGeom prst="ellipse">
            <a:avLst/>
          </a:prstGeom>
          <a:solidFill>
            <a:srgbClr val="35E6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" y="2757830"/>
            <a:ext cx="336499" cy="33649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22960" y="35204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Usuario no registrado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420624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Explora el catálogo, consulta especificaciones y ejecuta verificaciones básicas de compatibilidad.</a:t>
            </a:r>
            <a:endParaRPr lang="en-US" sz="1250" dirty="0"/>
          </a:p>
        </p:txBody>
      </p:sp>
      <p:sp>
        <p:nvSpPr>
          <p:cNvPr id="14" name="Actor 2"/>
          <p:cNvSpPr/>
          <p:nvPr/>
        </p:nvSpPr>
        <p:spPr>
          <a:xfrm>
            <a:off x="3392424" y="2286000"/>
            <a:ext cx="2560320" cy="3611880"/>
          </a:xfrm>
          <a:prstGeom prst="roundRect">
            <a:avLst>
              <a:gd name="adj" fmla="val 3571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666744" y="2560320"/>
            <a:ext cx="731520" cy="731520"/>
          </a:xfrm>
          <a:prstGeom prst="ellipse">
            <a:avLst/>
          </a:prstGeom>
          <a:solidFill>
            <a:srgbClr val="35E6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4254" y="2757830"/>
            <a:ext cx="336499" cy="33649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666744" y="35204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Usuario registrado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3666744" y="420624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 y guarda builds, recibe análisis completos, compara precios y gestiona alertas.</a:t>
            </a:r>
            <a:endParaRPr lang="en-US" sz="1250" dirty="0"/>
          </a:p>
        </p:txBody>
      </p:sp>
      <p:sp>
        <p:nvSpPr>
          <p:cNvPr id="19" name="Actor 3"/>
          <p:cNvSpPr/>
          <p:nvPr/>
        </p:nvSpPr>
        <p:spPr>
          <a:xfrm>
            <a:off x="6236208" y="2286000"/>
            <a:ext cx="2560320" cy="3611880"/>
          </a:xfrm>
          <a:prstGeom prst="roundRect">
            <a:avLst>
              <a:gd name="adj" fmla="val 3571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10528" y="2560320"/>
            <a:ext cx="731520" cy="731520"/>
          </a:xfrm>
          <a:prstGeom prst="ellipse">
            <a:avLst/>
          </a:prstGeom>
          <a:solidFill>
            <a:srgbClr val="35E6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038" y="2757830"/>
            <a:ext cx="336499" cy="33649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10528" y="35204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Administrador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510528" y="420624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Gestiona catálogo, reglas de compatibilidad y referencias de precio; monitorea el sistema.</a:t>
            </a:r>
            <a:endParaRPr lang="en-US" sz="1250" dirty="0"/>
          </a:p>
        </p:txBody>
      </p:sp>
      <p:sp>
        <p:nvSpPr>
          <p:cNvPr id="24" name="Actor 4"/>
          <p:cNvSpPr/>
          <p:nvPr/>
        </p:nvSpPr>
        <p:spPr>
          <a:xfrm>
            <a:off x="9079992" y="2286000"/>
            <a:ext cx="2560320" cy="3611880"/>
          </a:xfrm>
          <a:prstGeom prst="roundRect">
            <a:avLst>
              <a:gd name="adj" fmla="val 3571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354312" y="2560320"/>
            <a:ext cx="731520" cy="731520"/>
          </a:xfrm>
          <a:prstGeom prst="ellipse">
            <a:avLst/>
          </a:prstGeom>
          <a:solidFill>
            <a:srgbClr val="35E6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1822" y="2757830"/>
            <a:ext cx="336499" cy="336499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354312" y="35204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9354312" y="420624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Ejecuta validaciones, cálculos energéticos y recomendaciones, y envía las alertas configuradas.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ACTORES DEL PROYECTO</a:t>
            </a:r>
            <a:endParaRPr lang="en-US" sz="1100" dirty="0"/>
          </a:p>
        </p:txBody>
      </p:sp>
      <p:sp>
        <p:nvSpPr>
          <p:cNvPr id="3" name="Logo fondo"/>
          <p:cNvSpPr/>
          <p:nvPr/>
        </p:nvSpPr>
        <p:spPr>
          <a:xfrm>
            <a:off x="10424160" y="292608"/>
            <a:ext cx="121615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/>
        </p:spPr>
      </p:sp>
      <p:pic>
        <p:nvPicPr>
          <p:cNvPr id="4" name="Image 0" descr="Duoc U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65760"/>
            <a:ext cx="1033272" cy="2569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7772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Necesidades declaradas por cada actor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BDY1103 · Taller Base de Datos  |  Evaluación Parcial 2 — Proyecto TarroBuild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360152" y="64008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14</a:t>
            </a:r>
            <a:endParaRPr lang="en-US" sz="1000" dirty="0"/>
          </a:p>
        </p:txBody>
      </p:sp>
      <p:sp>
        <p:nvSpPr>
          <p:cNvPr id="8" name="Necesidad 1"/>
          <p:cNvSpPr/>
          <p:nvPr/>
        </p:nvSpPr>
        <p:spPr>
          <a:xfrm>
            <a:off x="548640" y="1737360"/>
            <a:ext cx="5449824" cy="2011680"/>
          </a:xfrm>
          <a:prstGeom prst="roundRect">
            <a:avLst>
              <a:gd name="adj" fmla="val 4545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2011680"/>
            <a:ext cx="594360" cy="594360"/>
          </a:xfrm>
          <a:prstGeom prst="ellipse">
            <a:avLst/>
          </a:prstGeom>
          <a:solidFill>
            <a:srgbClr val="35E6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37" y="2172157"/>
            <a:ext cx="273406" cy="27340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4592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Usuario no registrado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645920" y="24688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"Quiero revisar componentes y probar si son compatibles sin tener que crear una cuenta."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1645920" y="3337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HU-01 · HU-03</a:t>
            </a:r>
            <a:endParaRPr lang="en-US" sz="1100" dirty="0"/>
          </a:p>
        </p:txBody>
      </p:sp>
      <p:sp>
        <p:nvSpPr>
          <p:cNvPr id="14" name="Necesidad 2"/>
          <p:cNvSpPr/>
          <p:nvPr/>
        </p:nvSpPr>
        <p:spPr>
          <a:xfrm>
            <a:off x="6190488" y="1737360"/>
            <a:ext cx="5449824" cy="2011680"/>
          </a:xfrm>
          <a:prstGeom prst="roundRect">
            <a:avLst>
              <a:gd name="adj" fmla="val 4545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64808" y="2011680"/>
            <a:ext cx="594360" cy="594360"/>
          </a:xfrm>
          <a:prstGeom prst="ellipse">
            <a:avLst/>
          </a:prstGeom>
          <a:solidFill>
            <a:srgbClr val="35E6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285" y="2172157"/>
            <a:ext cx="273406" cy="27340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287768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Usuario registrado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7287768" y="24688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"Necesito armar mi PC, validar que todo encaje, conocer el costo total y recibir sugerencias de mejora."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7287768" y="3337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HU-02 · HU-04 a HU-09</a:t>
            </a:r>
            <a:endParaRPr lang="en-US" sz="1100" dirty="0"/>
          </a:p>
        </p:txBody>
      </p:sp>
      <p:sp>
        <p:nvSpPr>
          <p:cNvPr id="20" name="Necesidad 3"/>
          <p:cNvSpPr/>
          <p:nvPr/>
        </p:nvSpPr>
        <p:spPr>
          <a:xfrm>
            <a:off x="548640" y="3931920"/>
            <a:ext cx="5449824" cy="2011680"/>
          </a:xfrm>
          <a:prstGeom prst="roundRect">
            <a:avLst>
              <a:gd name="adj" fmla="val 4545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22960" y="4206240"/>
            <a:ext cx="594360" cy="594360"/>
          </a:xfrm>
          <a:prstGeom prst="ellipse">
            <a:avLst/>
          </a:prstGeom>
          <a:solidFill>
            <a:srgbClr val="35E6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437" y="4366717"/>
            <a:ext cx="273406" cy="27340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645920" y="4206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Administrador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1645920" y="46634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"Necesito mantener actualizados el catálogo, las categorías y las reglas de compatibilidad."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1645920" y="5532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HU-10</a:t>
            </a:r>
            <a:endParaRPr lang="en-US" sz="1100" dirty="0"/>
          </a:p>
        </p:txBody>
      </p:sp>
      <p:sp>
        <p:nvSpPr>
          <p:cNvPr id="26" name="Necesidad 4"/>
          <p:cNvSpPr/>
          <p:nvPr/>
        </p:nvSpPr>
        <p:spPr>
          <a:xfrm>
            <a:off x="6190488" y="3931920"/>
            <a:ext cx="5449824" cy="2011680"/>
          </a:xfrm>
          <a:prstGeom prst="roundRect">
            <a:avLst>
              <a:gd name="adj" fmla="val 4545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464808" y="4206240"/>
            <a:ext cx="594360" cy="594360"/>
          </a:xfrm>
          <a:prstGeom prst="ellipse">
            <a:avLst/>
          </a:prstGeom>
          <a:solidFill>
            <a:srgbClr val="35E6FF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5285" y="4366717"/>
            <a:ext cx="273406" cy="27340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287768" y="4206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7287768" y="46634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"Debo validar, calcular y notificar de forma automática en cada build, dejando registro."</a:t>
            </a:r>
            <a:endParaRPr lang="en-US" sz="1350" dirty="0"/>
          </a:p>
        </p:txBody>
      </p:sp>
      <p:sp>
        <p:nvSpPr>
          <p:cNvPr id="31" name="Text 24"/>
          <p:cNvSpPr txBox="1"/>
          <p:nvPr/>
        </p:nvSpPr>
        <p:spPr>
          <a:xfrm>
            <a:off x="7287768" y="5532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HU-05 · HU-06 · HU-07 · HU-09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OBJETIVO DEL PROYECTO</a:t>
            </a:r>
            <a:endParaRPr lang="en-US" sz="1100" dirty="0"/>
          </a:p>
        </p:txBody>
      </p:sp>
      <p:sp>
        <p:nvSpPr>
          <p:cNvPr id="3" name="Logo fondo"/>
          <p:cNvSpPr/>
          <p:nvPr/>
        </p:nvSpPr>
        <p:spPr>
          <a:xfrm>
            <a:off x="10424160" y="292608"/>
            <a:ext cx="121615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/>
        </p:spPr>
      </p:sp>
      <p:pic>
        <p:nvPicPr>
          <p:cNvPr id="4" name="Image 0" descr="Duoc U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65760"/>
            <a:ext cx="1033272" cy="2569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7772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 del proyecto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BDY1103 · Taller Base de Datos  |  Evaluación Parcial 2 — Proyecto TarroBuild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360152" y="64008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14</a:t>
            </a:r>
            <a:endParaRPr lang="en-US" sz="1000" dirty="0"/>
          </a:p>
        </p:txBody>
      </p:sp>
      <p:sp>
        <p:nvSpPr>
          <p:cNvPr id="8" name="Objetivo"/>
          <p:cNvSpPr/>
          <p:nvPr/>
        </p:nvSpPr>
        <p:spPr>
          <a:xfrm>
            <a:off x="548640" y="1783080"/>
            <a:ext cx="11091672" cy="2926080"/>
          </a:xfrm>
          <a:prstGeom prst="roundRect">
            <a:avLst>
              <a:gd name="adj" fmla="val 3125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2103120"/>
            <a:ext cx="914400" cy="914400"/>
          </a:xfrm>
          <a:prstGeom prst="ellipse">
            <a:avLst/>
          </a:prstGeom>
          <a:solidFill>
            <a:srgbClr val="35E6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235000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94560" y="210312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Desarrollar una plataforma web de microservicios que permita explorar componentes de hardware, crear configuraciones de PC personalizadas y validarlas automáticamente (compatibilidad técnica y consumo energético), estimar su costo y recomendar mejoras antes de realizar una compra real.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5120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objetivo guía las decisiones de diseño de TarroBuild: cada microservicio resuelve una parte de él y mantiene su propia base de datos.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VISIÓN DEL PRODUCTO</a:t>
            </a:r>
            <a:endParaRPr lang="en-US" sz="1100" dirty="0"/>
          </a:p>
        </p:txBody>
      </p:sp>
      <p:sp>
        <p:nvSpPr>
          <p:cNvPr id="3" name="Logo fondo"/>
          <p:cNvSpPr/>
          <p:nvPr/>
        </p:nvSpPr>
        <p:spPr>
          <a:xfrm>
            <a:off x="10424160" y="292608"/>
            <a:ext cx="121615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/>
        </p:spPr>
      </p:sp>
      <p:pic>
        <p:nvPicPr>
          <p:cNvPr id="4" name="Image 0" descr="Duoc U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65760"/>
            <a:ext cx="1033272" cy="2569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7772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Visión del producto y usuario potencial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BDY1103 · Taller Base de Datos  |  Evaluación Parcial 2 — Proyecto TarroBuild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360152" y="64008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14</a:t>
            </a:r>
            <a:endParaRPr lang="en-US" sz="1000" dirty="0"/>
          </a:p>
        </p:txBody>
      </p:sp>
      <p:sp>
        <p:nvSpPr>
          <p:cNvPr id="8" name="Visión"/>
          <p:cNvSpPr/>
          <p:nvPr/>
        </p:nvSpPr>
        <p:spPr>
          <a:xfrm>
            <a:off x="548640" y="1691640"/>
            <a:ext cx="11091672" cy="1554480"/>
          </a:xfrm>
          <a:prstGeom prst="roundRect">
            <a:avLst>
              <a:gd name="adj" fmla="val 5882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169164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“Ser la plataforma que convierte la información dispersa del hardware en una decisión técnica validada: decidir con datos, armar con confianza.”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657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5E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Usuario potencial principal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20624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Personas en Chile que arman o actualizan su computador por trabajo remoto, gaming o alto rendimiento a menor costo, y no tienen cómo validar la compatibilidad antes de comprar.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3657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5E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Beneficio central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420624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Evita incompatibilidades, sobrecostos y devoluciones: cada build se valida, se cotiza y se recomienda antes de la compra real en el mercado.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COMPONENTES DEL SISTEMA</a:t>
            </a:r>
            <a:endParaRPr lang="en-US" sz="1100" dirty="0"/>
          </a:p>
        </p:txBody>
      </p:sp>
      <p:sp>
        <p:nvSpPr>
          <p:cNvPr id="3" name="Logo fondo"/>
          <p:cNvSpPr/>
          <p:nvPr/>
        </p:nvSpPr>
        <p:spPr>
          <a:xfrm>
            <a:off x="10424160" y="292608"/>
            <a:ext cx="121615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/>
        </p:spPr>
      </p:sp>
      <p:pic>
        <p:nvPicPr>
          <p:cNvPr id="4" name="Image 0" descr="Duoc U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65760"/>
            <a:ext cx="1033272" cy="2569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7772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Componentes principales de TarroBuild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BDY1103 · Taller Base de Datos  |  Evaluación Parcial 2 — Proyecto TarroBuild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360152" y="64008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14</a:t>
            </a:r>
            <a:endParaRPr lang="en-US" sz="1000" dirty="0"/>
          </a:p>
        </p:txBody>
      </p:sp>
      <p:sp>
        <p:nvSpPr>
          <p:cNvPr id="8" name="Componente 1"/>
          <p:cNvSpPr/>
          <p:nvPr/>
        </p:nvSpPr>
        <p:spPr>
          <a:xfrm>
            <a:off x="548640" y="169164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35E6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373" y="2068373"/>
            <a:ext cx="252374" cy="25237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1920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Acceso y seguridad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2606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api-gateway · auth-service · user-service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30632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Punto único de entrada, login con JWT y perfiles; contraseñas con BCrypt.</a:t>
            </a:r>
            <a:endParaRPr lang="en-US" sz="1200" dirty="0"/>
          </a:p>
        </p:txBody>
      </p:sp>
      <p:sp>
        <p:nvSpPr>
          <p:cNvPr id="14" name="Componente 2"/>
          <p:cNvSpPr/>
          <p:nvPr/>
        </p:nvSpPr>
        <p:spPr>
          <a:xfrm>
            <a:off x="4311396" y="169164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39996" y="1920240"/>
            <a:ext cx="548640" cy="548640"/>
          </a:xfrm>
          <a:prstGeom prst="ellipse">
            <a:avLst/>
          </a:prstGeom>
          <a:solidFill>
            <a:srgbClr val="35E6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129" y="206837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71516" y="1920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Catálogo de hardware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539996" y="2606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product-service · category-service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4539996" y="30632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Componentes, categorías y atributos técnicos con filtros.</a:t>
            </a:r>
            <a:endParaRPr lang="en-US" sz="1200" dirty="0"/>
          </a:p>
        </p:txBody>
      </p:sp>
      <p:sp>
        <p:nvSpPr>
          <p:cNvPr id="20" name="Componente 3"/>
          <p:cNvSpPr/>
          <p:nvPr/>
        </p:nvSpPr>
        <p:spPr>
          <a:xfrm>
            <a:off x="8074152" y="169164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302752" y="1920240"/>
            <a:ext cx="548640" cy="548640"/>
          </a:xfrm>
          <a:prstGeom prst="ellipse">
            <a:avLst/>
          </a:prstGeom>
          <a:solidFill>
            <a:srgbClr val="35E6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0885" y="2068373"/>
            <a:ext cx="252374" cy="25237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034272" y="1920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Compatibilidad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8302752" y="2606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compatibility-service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8302752" y="30632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Reglas por categoría; entrega el detalle técnico del conflicto.</a:t>
            </a:r>
            <a:endParaRPr lang="en-US" sz="1200" dirty="0"/>
          </a:p>
        </p:txBody>
      </p:sp>
      <p:sp>
        <p:nvSpPr>
          <p:cNvPr id="26" name="Componente 4"/>
          <p:cNvSpPr/>
          <p:nvPr/>
        </p:nvSpPr>
        <p:spPr>
          <a:xfrm>
            <a:off x="548640" y="397764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35E6FF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373" y="4354373"/>
            <a:ext cx="252374" cy="25237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508760" y="4206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Builds y proveedores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777240" y="4892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build-service · provider-service</a:t>
            </a:r>
            <a:endParaRPr lang="en-US" sz="1050" dirty="0"/>
          </a:p>
        </p:txBody>
      </p:sp>
      <p:sp>
        <p:nvSpPr>
          <p:cNvPr id="31" name="Text 24"/>
          <p:cNvSpPr txBox="1"/>
          <p:nvPr/>
        </p:nvSpPr>
        <p:spPr>
          <a:xfrm>
            <a:off x="777240" y="53492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Configuraciones del usuario y referencias externas de componentes.</a:t>
            </a:r>
            <a:endParaRPr lang="en-US" sz="1200" dirty="0"/>
          </a:p>
        </p:txBody>
      </p:sp>
      <p:sp>
        <p:nvSpPr>
          <p:cNvPr id="32" name="Componente 5"/>
          <p:cNvSpPr/>
          <p:nvPr/>
        </p:nvSpPr>
        <p:spPr>
          <a:xfrm>
            <a:off x="4311396" y="397764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39996" y="4206240"/>
            <a:ext cx="548640" cy="548640"/>
          </a:xfrm>
          <a:prstGeom prst="ellipse">
            <a:avLst/>
          </a:prstGeom>
          <a:solidFill>
            <a:srgbClr val="35E6FF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8129" y="4354373"/>
            <a:ext cx="252374" cy="252374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5271516" y="4206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Costos y recomendaciones</a:t>
            </a:r>
            <a:endParaRPr lang="en-US" sz="1400" dirty="0"/>
          </a:p>
        </p:txBody>
      </p:sp>
      <p:sp>
        <p:nvSpPr>
          <p:cNvPr id="36" name="Text 28"/>
          <p:cNvSpPr txBox="1"/>
          <p:nvPr/>
        </p:nvSpPr>
        <p:spPr>
          <a:xfrm>
            <a:off x="4539996" y="4892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estimate-service · hardware-advisor-service</a:t>
            </a:r>
            <a:endParaRPr lang="en-US" sz="1050" dirty="0"/>
          </a:p>
        </p:txBody>
      </p:sp>
      <p:sp>
        <p:nvSpPr>
          <p:cNvPr id="37" name="Text 29"/>
          <p:cNvSpPr txBox="1"/>
          <p:nvPr/>
        </p:nvSpPr>
        <p:spPr>
          <a:xfrm>
            <a:off x="4539996" y="53492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Costo total de la build y sugerencias de mejora justificadas.</a:t>
            </a:r>
            <a:endParaRPr lang="en-US" sz="1200" dirty="0"/>
          </a:p>
        </p:txBody>
      </p:sp>
      <p:sp>
        <p:nvSpPr>
          <p:cNvPr id="38" name="Componente 6"/>
          <p:cNvSpPr/>
          <p:nvPr/>
        </p:nvSpPr>
        <p:spPr>
          <a:xfrm>
            <a:off x="8074152" y="397764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8302752" y="4206240"/>
            <a:ext cx="548640" cy="548640"/>
          </a:xfrm>
          <a:prstGeom prst="ellipse">
            <a:avLst/>
          </a:prstGeom>
          <a:solidFill>
            <a:srgbClr val="35E6FF"/>
          </a:solidFill>
          <a:ln/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0885" y="4354373"/>
            <a:ext cx="252374" cy="252374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9034272" y="4206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Notificaciones</a:t>
            </a:r>
            <a:endParaRPr lang="en-US" sz="1400" dirty="0"/>
          </a:p>
        </p:txBody>
      </p:sp>
      <p:sp>
        <p:nvSpPr>
          <p:cNvPr id="42" name="Text 33"/>
          <p:cNvSpPr txBox="1"/>
          <p:nvPr/>
        </p:nvSpPr>
        <p:spPr>
          <a:xfrm>
            <a:off x="8302752" y="4892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notification-service</a:t>
            </a:r>
            <a:endParaRPr lang="en-US" sz="1050" dirty="0"/>
          </a:p>
        </p:txBody>
      </p:sp>
      <p:sp>
        <p:nvSpPr>
          <p:cNvPr id="43" name="Text 34"/>
          <p:cNvSpPr txBox="1"/>
          <p:nvPr/>
        </p:nvSpPr>
        <p:spPr>
          <a:xfrm>
            <a:off x="8302752" y="53492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Avisa estimaciones y recomendaciones y deja registro.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COMPONENTES DEL SISTEMA</a:t>
            </a:r>
            <a:endParaRPr lang="en-US" sz="1100" dirty="0"/>
          </a:p>
        </p:txBody>
      </p:sp>
      <p:sp>
        <p:nvSpPr>
          <p:cNvPr id="3" name="Logo fondo"/>
          <p:cNvSpPr/>
          <p:nvPr/>
        </p:nvSpPr>
        <p:spPr>
          <a:xfrm>
            <a:off x="10424160" y="292608"/>
            <a:ext cx="121615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/>
        </p:spPr>
      </p:sp>
      <p:pic>
        <p:nvPicPr>
          <p:cNvPr id="4" name="Image 0" descr="Duoc U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65760"/>
            <a:ext cx="1033272" cy="2569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7772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Arquitectura general de microservicios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BDY1103 · Taller Base de Datos  |  Evaluación Parcial 2 — Proyecto TarroBuild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360152" y="64008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14</a:t>
            </a:r>
            <a:endParaRPr lang="en-US" sz="1000" dirty="0"/>
          </a:p>
        </p:txBody>
      </p:sp>
      <p:sp>
        <p:nvSpPr>
          <p:cNvPr id="8" name="Cliente"/>
          <p:cNvSpPr/>
          <p:nvPr/>
        </p:nvSpPr>
        <p:spPr>
          <a:xfrm>
            <a:off x="4727448" y="16002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727448" y="1600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Cliente / Frontend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94476" y="2103120"/>
            <a:ext cx="0" cy="274320"/>
          </a:xfrm>
          <a:prstGeom prst="line">
            <a:avLst/>
          </a:prstGeom>
          <a:noFill/>
          <a:ln w="15875">
            <a:solidFill>
              <a:srgbClr val="35E6FF"/>
            </a:solidFill>
            <a:prstDash val="solid"/>
          </a:ln>
        </p:spPr>
      </p:sp>
      <p:sp>
        <p:nvSpPr>
          <p:cNvPr id="11" name="API Gateway"/>
          <p:cNvSpPr/>
          <p:nvPr/>
        </p:nvSpPr>
        <p:spPr>
          <a:xfrm>
            <a:off x="3355848" y="23774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E90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355848" y="23774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 Gateway · :8080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Único punto de entrada · valida JWT con auth-service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094476" y="3154680"/>
            <a:ext cx="0" cy="228600"/>
          </a:xfrm>
          <a:prstGeom prst="line">
            <a:avLst/>
          </a:prstGeom>
          <a:noFill/>
          <a:ln w="15875">
            <a:solidFill>
              <a:srgbClr val="35E6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600200" y="3383280"/>
            <a:ext cx="9144000" cy="0"/>
          </a:xfrm>
          <a:prstGeom prst="line">
            <a:avLst/>
          </a:prstGeom>
          <a:noFill/>
          <a:ln w="15875">
            <a:solidFill>
              <a:srgbClr val="35E6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600200" y="3383280"/>
            <a:ext cx="0" cy="228600"/>
          </a:xfrm>
          <a:prstGeom prst="line">
            <a:avLst/>
          </a:prstGeom>
          <a:noFill/>
          <a:ln w="15875">
            <a:solidFill>
              <a:srgbClr val="35E6FF"/>
            </a:solidFill>
            <a:prstDash val="solid"/>
          </a:ln>
        </p:spPr>
      </p:sp>
      <p:sp>
        <p:nvSpPr>
          <p:cNvPr id="16" name="auth-service"/>
          <p:cNvSpPr/>
          <p:nvPr/>
        </p:nvSpPr>
        <p:spPr>
          <a:xfrm>
            <a:off x="548640" y="361188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3703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auth-service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594360" y="41422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:8081 · db_auth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37997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Autenticación y JWT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886200" y="3383280"/>
            <a:ext cx="0" cy="228600"/>
          </a:xfrm>
          <a:prstGeom prst="line">
            <a:avLst/>
          </a:prstGeom>
          <a:noFill/>
          <a:ln w="15875">
            <a:solidFill>
              <a:srgbClr val="35E6FF"/>
            </a:solidFill>
            <a:prstDash val="solid"/>
          </a:ln>
        </p:spPr>
      </p:sp>
      <p:sp>
        <p:nvSpPr>
          <p:cNvPr id="21" name="user-service"/>
          <p:cNvSpPr/>
          <p:nvPr/>
        </p:nvSpPr>
        <p:spPr>
          <a:xfrm>
            <a:off x="2834640" y="361188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926080" y="3703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user-service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2880360" y="41422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:8082 · db_users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2926080" y="437997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Perfiles de usuario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172200" y="3383280"/>
            <a:ext cx="0" cy="228600"/>
          </a:xfrm>
          <a:prstGeom prst="line">
            <a:avLst/>
          </a:prstGeom>
          <a:noFill/>
          <a:ln w="15875">
            <a:solidFill>
              <a:srgbClr val="35E6FF"/>
            </a:solidFill>
            <a:prstDash val="solid"/>
          </a:ln>
        </p:spPr>
      </p:sp>
      <p:sp>
        <p:nvSpPr>
          <p:cNvPr id="26" name="product-service"/>
          <p:cNvSpPr/>
          <p:nvPr/>
        </p:nvSpPr>
        <p:spPr>
          <a:xfrm>
            <a:off x="5120640" y="361188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212080" y="3703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product-service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5166360" y="41422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:8083 · db_products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5212080" y="437997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Catálogo de componentes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458200" y="3383280"/>
            <a:ext cx="0" cy="228600"/>
          </a:xfrm>
          <a:prstGeom prst="line">
            <a:avLst/>
          </a:prstGeom>
          <a:noFill/>
          <a:ln w="15875">
            <a:solidFill>
              <a:srgbClr val="35E6FF"/>
            </a:solidFill>
            <a:prstDash val="solid"/>
          </a:ln>
        </p:spPr>
      </p:sp>
      <p:sp>
        <p:nvSpPr>
          <p:cNvPr id="31" name="category-service"/>
          <p:cNvSpPr/>
          <p:nvPr/>
        </p:nvSpPr>
        <p:spPr>
          <a:xfrm>
            <a:off x="7406640" y="361188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498080" y="3703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category-service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7452360" y="41422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:8084 · db_categories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7498080" y="437997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Categorías y atributos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10744200" y="3383280"/>
            <a:ext cx="0" cy="228600"/>
          </a:xfrm>
          <a:prstGeom prst="line">
            <a:avLst/>
          </a:prstGeom>
          <a:noFill/>
          <a:ln w="15875">
            <a:solidFill>
              <a:srgbClr val="35E6FF"/>
            </a:solidFill>
            <a:prstDash val="solid"/>
          </a:ln>
        </p:spPr>
      </p:sp>
      <p:sp>
        <p:nvSpPr>
          <p:cNvPr id="36" name="compatibility-service"/>
          <p:cNvSpPr/>
          <p:nvPr/>
        </p:nvSpPr>
        <p:spPr>
          <a:xfrm>
            <a:off x="9692640" y="361188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784080" y="3703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compatibility-service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9738360" y="41422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:8085 · db_compatibility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9784080" y="437997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Reglas de compatibilidad</a:t>
            </a:r>
            <a:endParaRPr lang="en-US" sz="1000" dirty="0"/>
          </a:p>
        </p:txBody>
      </p:sp>
      <p:sp>
        <p:nvSpPr>
          <p:cNvPr id="40" name="provider-service"/>
          <p:cNvSpPr/>
          <p:nvPr/>
        </p:nvSpPr>
        <p:spPr>
          <a:xfrm>
            <a:off x="548640" y="484632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40080" y="4937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provider-service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594360" y="53766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:8086 · db_providers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640080" y="56144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Proveedores y referencias</a:t>
            </a:r>
            <a:endParaRPr lang="en-US" sz="1000" dirty="0"/>
          </a:p>
        </p:txBody>
      </p:sp>
      <p:sp>
        <p:nvSpPr>
          <p:cNvPr id="44" name="build-service"/>
          <p:cNvSpPr/>
          <p:nvPr/>
        </p:nvSpPr>
        <p:spPr>
          <a:xfrm>
            <a:off x="2834640" y="484632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2926080" y="4937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build-service</a:t>
            </a:r>
            <a:endParaRPr lang="en-US" sz="1050" dirty="0"/>
          </a:p>
        </p:txBody>
      </p:sp>
      <p:sp>
        <p:nvSpPr>
          <p:cNvPr id="46" name="Text 43"/>
          <p:cNvSpPr txBox="1"/>
          <p:nvPr/>
        </p:nvSpPr>
        <p:spPr>
          <a:xfrm>
            <a:off x="2880360" y="53766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:8087 · db_builds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2926080" y="56144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Configuraciones (builds)</a:t>
            </a:r>
            <a:endParaRPr lang="en-US" sz="1000" dirty="0"/>
          </a:p>
        </p:txBody>
      </p:sp>
      <p:sp>
        <p:nvSpPr>
          <p:cNvPr id="48" name="estimate-service"/>
          <p:cNvSpPr/>
          <p:nvPr/>
        </p:nvSpPr>
        <p:spPr>
          <a:xfrm>
            <a:off x="5120640" y="484632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5212080" y="4937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estimate-service</a:t>
            </a:r>
            <a:endParaRPr lang="en-US" sz="1050" dirty="0"/>
          </a:p>
        </p:txBody>
      </p:sp>
      <p:sp>
        <p:nvSpPr>
          <p:cNvPr id="50" name="Text 47"/>
          <p:cNvSpPr txBox="1"/>
          <p:nvPr/>
        </p:nvSpPr>
        <p:spPr>
          <a:xfrm>
            <a:off x="5166360" y="53766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:8088 · db_estimates</a:t>
            </a:r>
            <a:endParaRPr lang="en-US" sz="950" dirty="0"/>
          </a:p>
        </p:txBody>
      </p:sp>
      <p:sp>
        <p:nvSpPr>
          <p:cNvPr id="51" name="Text 48"/>
          <p:cNvSpPr txBox="1"/>
          <p:nvPr/>
        </p:nvSpPr>
        <p:spPr>
          <a:xfrm>
            <a:off x="5212080" y="56144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Cálculo de costo total</a:t>
            </a:r>
            <a:endParaRPr lang="en-US" sz="1000" dirty="0"/>
          </a:p>
        </p:txBody>
      </p:sp>
      <p:sp>
        <p:nvSpPr>
          <p:cNvPr id="52" name="hardware-advisor-service"/>
          <p:cNvSpPr/>
          <p:nvPr/>
        </p:nvSpPr>
        <p:spPr>
          <a:xfrm>
            <a:off x="7406640" y="484632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7498080" y="4937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hardware-advisor-service</a:t>
            </a:r>
            <a:endParaRPr lang="en-US" sz="1050" dirty="0"/>
          </a:p>
        </p:txBody>
      </p:sp>
      <p:sp>
        <p:nvSpPr>
          <p:cNvPr id="54" name="Text 51"/>
          <p:cNvSpPr txBox="1"/>
          <p:nvPr/>
        </p:nvSpPr>
        <p:spPr>
          <a:xfrm>
            <a:off x="7452360" y="53766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:8089 · db_recommendations</a:t>
            </a:r>
            <a:endParaRPr lang="en-US" sz="950" dirty="0"/>
          </a:p>
        </p:txBody>
      </p:sp>
      <p:sp>
        <p:nvSpPr>
          <p:cNvPr id="55" name="Text 52"/>
          <p:cNvSpPr txBox="1"/>
          <p:nvPr/>
        </p:nvSpPr>
        <p:spPr>
          <a:xfrm>
            <a:off x="7498080" y="56144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Recomendaciones</a:t>
            </a:r>
            <a:endParaRPr lang="en-US" sz="1000" dirty="0"/>
          </a:p>
        </p:txBody>
      </p:sp>
      <p:sp>
        <p:nvSpPr>
          <p:cNvPr id="56" name="notification-service"/>
          <p:cNvSpPr/>
          <p:nvPr/>
        </p:nvSpPr>
        <p:spPr>
          <a:xfrm>
            <a:off x="9692640" y="484632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9784080" y="4937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notification-service</a:t>
            </a:r>
            <a:endParaRPr lang="en-US" sz="1050" dirty="0"/>
          </a:p>
        </p:txBody>
      </p:sp>
      <p:sp>
        <p:nvSpPr>
          <p:cNvPr id="58" name="Text 55"/>
          <p:cNvSpPr txBox="1"/>
          <p:nvPr/>
        </p:nvSpPr>
        <p:spPr>
          <a:xfrm>
            <a:off x="9738360" y="53766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:8090 · db_notifications</a:t>
            </a:r>
            <a:endParaRPr lang="en-US" sz="950" dirty="0"/>
          </a:p>
        </p:txBody>
      </p:sp>
      <p:sp>
        <p:nvSpPr>
          <p:cNvPr id="59" name="Text 56"/>
          <p:cNvSpPr txBox="1"/>
          <p:nvPr/>
        </p:nvSpPr>
        <p:spPr>
          <a:xfrm>
            <a:off x="9784080" y="56144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Alertas y registros</a:t>
            </a:r>
            <a:endParaRPr lang="en-US" sz="1000" dirty="0"/>
          </a:p>
        </p:txBody>
      </p:sp>
      <p:sp>
        <p:nvSpPr>
          <p:cNvPr id="60" name="Text 57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Cada microservicio tiene su propia base de datos (H2 / MySQL) y se comunica solo vía REST (RestClient / Feign).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COMPONENTES DEL SISTEMA</a:t>
            </a:r>
            <a:endParaRPr lang="en-US" sz="1100" dirty="0"/>
          </a:p>
        </p:txBody>
      </p:sp>
      <p:sp>
        <p:nvSpPr>
          <p:cNvPr id="3" name="Logo fondo"/>
          <p:cNvSpPr/>
          <p:nvPr/>
        </p:nvSpPr>
        <p:spPr>
          <a:xfrm>
            <a:off x="10424160" y="292608"/>
            <a:ext cx="121615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/>
        </p:spPr>
      </p:sp>
      <p:pic>
        <p:nvPicPr>
          <p:cNvPr id="4" name="Image 0" descr="Duoc U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65760"/>
            <a:ext cx="1033272" cy="2569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7772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build activa una cadena coordinada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BDY1103 · Taller Base de Datos  |  Evaluación Parcial 2 — Proyecto TarroBuild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360152" y="64008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14</a:t>
            </a:r>
            <a:endParaRPr lang="en-US" sz="1000" dirty="0"/>
          </a:p>
        </p:txBody>
      </p:sp>
      <p:sp>
        <p:nvSpPr>
          <p:cNvPr id="8" name="Flujo 1"/>
          <p:cNvSpPr/>
          <p:nvPr/>
        </p:nvSpPr>
        <p:spPr>
          <a:xfrm>
            <a:off x="548640" y="169164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691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api-gateway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611880" y="169164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5E6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023360" y="16916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auth-service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16916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 el token JWT en cada solicitud entrante</a:t>
            </a:r>
            <a:endParaRPr lang="en-US" sz="1150" dirty="0"/>
          </a:p>
        </p:txBody>
      </p:sp>
      <p:sp>
        <p:nvSpPr>
          <p:cNvPr id="13" name="Flujo 2"/>
          <p:cNvSpPr/>
          <p:nvPr/>
        </p:nvSpPr>
        <p:spPr>
          <a:xfrm>
            <a:off x="548640" y="2578608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257860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auth-service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611880" y="2578608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5E6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4023360" y="257860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user-service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046720" y="257860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Asocia credenciales con el perfil durante registro y login</a:t>
            </a:r>
            <a:endParaRPr lang="en-US" sz="1150" dirty="0"/>
          </a:p>
        </p:txBody>
      </p:sp>
      <p:sp>
        <p:nvSpPr>
          <p:cNvPr id="18" name="Flujo 3"/>
          <p:cNvSpPr/>
          <p:nvPr/>
        </p:nvSpPr>
        <p:spPr>
          <a:xfrm>
            <a:off x="548640" y="3465576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3465576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build-service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611880" y="3465576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5E6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4023360" y="3465576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product-service · compatibility-service · provider-service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046720" y="3465576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Obtiene datos técnicos, valida compatibilidad y consulta referencias</a:t>
            </a:r>
            <a:endParaRPr lang="en-US" sz="1150" dirty="0"/>
          </a:p>
        </p:txBody>
      </p:sp>
      <p:sp>
        <p:nvSpPr>
          <p:cNvPr id="23" name="Flujo 4"/>
          <p:cNvSpPr/>
          <p:nvPr/>
        </p:nvSpPr>
        <p:spPr>
          <a:xfrm>
            <a:off x="548640" y="4352544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4352544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estimate-service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3611880" y="4352544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5E6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4023360" y="435254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build-service · product-service · notification-service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8046720" y="4352544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Calcula el costo total y notifica al generar la estimación</a:t>
            </a:r>
            <a:endParaRPr lang="en-US" sz="1150" dirty="0"/>
          </a:p>
        </p:txBody>
      </p:sp>
      <p:sp>
        <p:nvSpPr>
          <p:cNvPr id="28" name="Flujo 5"/>
          <p:cNvSpPr/>
          <p:nvPr/>
        </p:nvSpPr>
        <p:spPr>
          <a:xfrm>
            <a:off x="548640" y="5239512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2960" y="523951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hardware-advisor-service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3611880" y="5239512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5E6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4023360" y="523951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build-service · product-service · compatibility-service · notification-service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8046720" y="523951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Analiza la build, valida las sugerencias y notifica mejoras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· MODELO BD</a:t>
            </a:r>
            <a:endParaRPr lang="en-US" sz="1100" dirty="0"/>
          </a:p>
        </p:txBody>
      </p:sp>
      <p:sp>
        <p:nvSpPr>
          <p:cNvPr id="3" name="Logo fondo"/>
          <p:cNvSpPr/>
          <p:nvPr/>
        </p:nvSpPr>
        <p:spPr>
          <a:xfrm>
            <a:off x="10424160" y="292608"/>
            <a:ext cx="121615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/>
        </p:spPr>
      </p:sp>
      <p:pic>
        <p:nvPicPr>
          <p:cNvPr id="4" name="Image 0" descr="Duoc U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65760"/>
            <a:ext cx="1033272" cy="2569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7772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 de Base de Datos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BDY1103 · Taller Base de Datos  |  Evaluación Parcial 2 — Proyecto TarroBuild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360152" y="64008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14</a:t>
            </a:r>
            <a:endParaRPr lang="en-US" sz="1000" dirty="0"/>
          </a:p>
        </p:txBody>
      </p:sp>
      <p:sp>
        <p:nvSpPr>
          <p:cNvPr id="8" name="USER"/>
          <p:cNvSpPr/>
          <p:nvPr/>
        </p:nvSpPr>
        <p:spPr>
          <a:xfrm>
            <a:off x="548640" y="1691640"/>
            <a:ext cx="2468880" cy="1783080"/>
          </a:xfrm>
          <a:prstGeom prst="roundRect">
            <a:avLst>
              <a:gd name="adj" fmla="val 5128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1801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USER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1945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name · lastName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email · phone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createdAt</a:t>
            </a:r>
            <a:endParaRPr lang="en-US" sz="1100" dirty="0"/>
          </a:p>
        </p:txBody>
      </p:sp>
      <p:sp>
        <p:nvSpPr>
          <p:cNvPr id="11" name="BUILD"/>
          <p:cNvSpPr/>
          <p:nvPr/>
        </p:nvSpPr>
        <p:spPr>
          <a:xfrm>
            <a:off x="3419856" y="1691640"/>
            <a:ext cx="2468880" cy="1783080"/>
          </a:xfrm>
          <a:prstGeom prst="roundRect">
            <a:avLst>
              <a:gd name="adj" fmla="val 5128"/>
            </a:avLst>
          </a:prstGeom>
          <a:solidFill>
            <a:srgbClr val="123A5E"/>
          </a:solidFill>
          <a:ln w="9525">
            <a:solidFill>
              <a:srgbClr val="35E6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57016" y="1801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557016" y="21945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userId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name · status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createdAt</a:t>
            </a:r>
            <a:endParaRPr lang="en-US" sz="1100" dirty="0"/>
          </a:p>
        </p:txBody>
      </p:sp>
      <p:sp>
        <p:nvSpPr>
          <p:cNvPr id="14" name="BUILD_ITEM"/>
          <p:cNvSpPr/>
          <p:nvPr/>
        </p:nvSpPr>
        <p:spPr>
          <a:xfrm>
            <a:off x="6291072" y="1691640"/>
            <a:ext cx="2468880" cy="1783080"/>
          </a:xfrm>
          <a:prstGeom prst="roundRect">
            <a:avLst>
              <a:gd name="adj" fmla="val 5128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28232" y="1801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BUILD_ITEM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428232" y="21945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buildId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productId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quantity</a:t>
            </a:r>
            <a:endParaRPr lang="en-US" sz="1100" dirty="0"/>
          </a:p>
        </p:txBody>
      </p:sp>
      <p:sp>
        <p:nvSpPr>
          <p:cNvPr id="17" name="PRODUCT"/>
          <p:cNvSpPr/>
          <p:nvPr/>
        </p:nvSpPr>
        <p:spPr>
          <a:xfrm>
            <a:off x="9162288" y="1691640"/>
            <a:ext cx="2468880" cy="1783080"/>
          </a:xfrm>
          <a:prstGeom prst="roundRect">
            <a:avLst>
              <a:gd name="adj" fmla="val 5128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299448" y="1801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PRODUCT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299448" y="21945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 · name · price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categoryId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brand · model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isActive</a:t>
            </a:r>
            <a:endParaRPr lang="en-US" sz="1100" dirty="0"/>
          </a:p>
        </p:txBody>
      </p:sp>
      <p:sp>
        <p:nvSpPr>
          <p:cNvPr id="20" name="NOTIFICATION_LOG"/>
          <p:cNvSpPr/>
          <p:nvPr/>
        </p:nvSpPr>
        <p:spPr>
          <a:xfrm>
            <a:off x="548640" y="3840480"/>
            <a:ext cx="2468880" cy="1783080"/>
          </a:xfrm>
          <a:prstGeom prst="roundRect">
            <a:avLst>
              <a:gd name="adj" fmla="val 5128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5800" y="3950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NOTIFICATION_LOG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43434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 · userId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type · content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status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timestamp</a:t>
            </a:r>
            <a:endParaRPr lang="en-US" sz="1100" dirty="0"/>
          </a:p>
        </p:txBody>
      </p:sp>
      <p:sp>
        <p:nvSpPr>
          <p:cNvPr id="23" name="ESTIMATE"/>
          <p:cNvSpPr/>
          <p:nvPr/>
        </p:nvSpPr>
        <p:spPr>
          <a:xfrm>
            <a:off x="3419856" y="3840480"/>
            <a:ext cx="2468880" cy="1783080"/>
          </a:xfrm>
          <a:prstGeom prst="roundRect">
            <a:avLst>
              <a:gd name="adj" fmla="val 5128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557016" y="3950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ESTIMATE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3557016" y="43434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 · buildId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totalPrice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currency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createdAt</a:t>
            </a:r>
            <a:endParaRPr lang="en-US" sz="1100" dirty="0"/>
          </a:p>
        </p:txBody>
      </p:sp>
      <p:sp>
        <p:nvSpPr>
          <p:cNvPr id="26" name="RECOMMENDATION"/>
          <p:cNvSpPr/>
          <p:nvPr/>
        </p:nvSpPr>
        <p:spPr>
          <a:xfrm>
            <a:off x="6291072" y="3840480"/>
            <a:ext cx="2468880" cy="1783080"/>
          </a:xfrm>
          <a:prstGeom prst="roundRect">
            <a:avLst>
              <a:gd name="adj" fmla="val 5128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28232" y="3950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428232" y="43434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 · buildId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ruleApplied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suggestedProductId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reason</a:t>
            </a:r>
            <a:endParaRPr lang="en-US" sz="1100" dirty="0"/>
          </a:p>
        </p:txBody>
      </p:sp>
      <p:sp>
        <p:nvSpPr>
          <p:cNvPr id="29" name="PRODUCT_ATTRIBUTE"/>
          <p:cNvSpPr/>
          <p:nvPr/>
        </p:nvSpPr>
        <p:spPr>
          <a:xfrm>
            <a:off x="9162288" y="3840480"/>
            <a:ext cx="2468880" cy="1783080"/>
          </a:xfrm>
          <a:prstGeom prst="roundRect">
            <a:avLst>
              <a:gd name="adj" fmla="val 5128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299448" y="3950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PRODUCT_ATTRIBUTE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9299448" y="43434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 · productId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attributeName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attributeValue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017520" y="2583180"/>
            <a:ext cx="402336" cy="0"/>
          </a:xfrm>
          <a:prstGeom prst="line">
            <a:avLst/>
          </a:prstGeom>
          <a:noFill/>
          <a:ln w="15875">
            <a:solidFill>
              <a:srgbClr val="35E6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888736" y="2583180"/>
            <a:ext cx="402336" cy="0"/>
          </a:xfrm>
          <a:prstGeom prst="line">
            <a:avLst/>
          </a:prstGeom>
          <a:noFill/>
          <a:ln w="15875">
            <a:solidFill>
              <a:srgbClr val="35E6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759952" y="2583180"/>
            <a:ext cx="402336" cy="0"/>
          </a:xfrm>
          <a:prstGeom prst="line">
            <a:avLst/>
          </a:prstGeom>
          <a:noFill/>
          <a:ln w="15875">
            <a:solidFill>
              <a:srgbClr val="35E6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783080" y="3474720"/>
            <a:ext cx="0" cy="365760"/>
          </a:xfrm>
          <a:prstGeom prst="line">
            <a:avLst/>
          </a:prstGeom>
          <a:noFill/>
          <a:ln w="15875">
            <a:solidFill>
              <a:srgbClr val="35E6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654296" y="3474720"/>
            <a:ext cx="0" cy="365760"/>
          </a:xfrm>
          <a:prstGeom prst="line">
            <a:avLst/>
          </a:prstGeom>
          <a:noFill/>
          <a:ln w="15875">
            <a:solidFill>
              <a:srgbClr val="35E6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0268712" y="3474720"/>
            <a:ext cx="0" cy="365760"/>
          </a:xfrm>
          <a:prstGeom prst="line">
            <a:avLst/>
          </a:prstGeom>
          <a:noFill/>
          <a:ln w="15875">
            <a:solidFill>
              <a:srgbClr val="35E6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394960" y="3474720"/>
            <a:ext cx="1920240" cy="365760"/>
          </a:xfrm>
          <a:prstGeom prst="line">
            <a:avLst/>
          </a:prstGeom>
          <a:noFill/>
          <a:ln w="15875">
            <a:solidFill>
              <a:srgbClr val="35E6F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999232" y="23317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1:N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5870448" y="23317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1:N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8741664" y="23317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N:1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 lógico general. Además existen Credential, Category, AttributeDefinition, Provider, ProviderProduct, CompatibilityRule y CompatibilityCheck; cada microservicio conserva su propia base de datos y las relaciones entre servicios se resuelven por id vía REST.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· DEMOSTRACIÓN</a:t>
            </a:r>
            <a:endParaRPr lang="en-US" sz="1100" dirty="0"/>
          </a:p>
        </p:txBody>
      </p:sp>
      <p:sp>
        <p:nvSpPr>
          <p:cNvPr id="3" name="Logo fondo"/>
          <p:cNvSpPr/>
          <p:nvPr/>
        </p:nvSpPr>
        <p:spPr>
          <a:xfrm>
            <a:off x="10424160" y="292608"/>
            <a:ext cx="121615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/>
        </p:spPr>
      </p:sp>
      <p:pic>
        <p:nvPicPr>
          <p:cNvPr id="4" name="Image 0" descr="Duoc U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65760"/>
            <a:ext cx="1033272" cy="2569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7772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Demostración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BDY1103 · Taller Base de Datos  |  Evaluación Parcial 2 — Proyecto TarroBuild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360152" y="64008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5E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14</a:t>
            </a:r>
            <a:endParaRPr lang="en-US" sz="1000" dirty="0"/>
          </a:p>
        </p:txBody>
      </p:sp>
      <p:sp>
        <p:nvSpPr>
          <p:cNvPr id="8" name="Paso 1"/>
          <p:cNvSpPr/>
          <p:nvPr/>
        </p:nvSpPr>
        <p:spPr>
          <a:xfrm>
            <a:off x="548640" y="1691640"/>
            <a:ext cx="6766560" cy="713232"/>
          </a:xfrm>
          <a:prstGeom prst="roundRect">
            <a:avLst>
              <a:gd name="adj" fmla="val 12821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819656"/>
            <a:ext cx="457200" cy="457200"/>
          </a:xfrm>
          <a:prstGeom prst="ellipse">
            <a:avLst/>
          </a:prstGeom>
          <a:solidFill>
            <a:srgbClr val="35E6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31520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178308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Iniciar sesión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20574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Login vía API Gateway (auth-service); el JWT incluye el rol.</a:t>
            </a:r>
            <a:endParaRPr lang="en-US" sz="1150" dirty="0"/>
          </a:p>
        </p:txBody>
      </p:sp>
      <p:sp>
        <p:nvSpPr>
          <p:cNvPr id="13" name="Paso 2"/>
          <p:cNvSpPr/>
          <p:nvPr/>
        </p:nvSpPr>
        <p:spPr>
          <a:xfrm>
            <a:off x="548640" y="2514600"/>
            <a:ext cx="6766560" cy="713232"/>
          </a:xfrm>
          <a:prstGeom prst="roundRect">
            <a:avLst>
              <a:gd name="adj" fmla="val 12821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2642616"/>
            <a:ext cx="457200" cy="457200"/>
          </a:xfrm>
          <a:prstGeom prst="ellipse">
            <a:avLst/>
          </a:prstGeom>
          <a:solidFill>
            <a:srgbClr val="35E6F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31520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417320" y="260604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Explorar el catálogo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28803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Listar productos y filtrar por categoría (acceso público).</a:t>
            </a:r>
            <a:endParaRPr lang="en-US" sz="1150" dirty="0"/>
          </a:p>
        </p:txBody>
      </p:sp>
      <p:sp>
        <p:nvSpPr>
          <p:cNvPr id="18" name="Paso 3"/>
          <p:cNvSpPr/>
          <p:nvPr/>
        </p:nvSpPr>
        <p:spPr>
          <a:xfrm>
            <a:off x="548640" y="3337560"/>
            <a:ext cx="6766560" cy="713232"/>
          </a:xfrm>
          <a:prstGeom prst="roundRect">
            <a:avLst>
              <a:gd name="adj" fmla="val 12821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1520" y="3465576"/>
            <a:ext cx="457200" cy="457200"/>
          </a:xfrm>
          <a:prstGeom prst="ellipse">
            <a:avLst/>
          </a:prstGeom>
          <a:solidFill>
            <a:srgbClr val="35E6F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3152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417320" y="342900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CRUD de una tabla: Product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37033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Listar todo · buscar uno · agregar · editar · eliminar (Swagger UI).</a:t>
            </a:r>
            <a:endParaRPr lang="en-US" sz="1150" dirty="0"/>
          </a:p>
        </p:txBody>
      </p:sp>
      <p:sp>
        <p:nvSpPr>
          <p:cNvPr id="23" name="Paso 4"/>
          <p:cNvSpPr/>
          <p:nvPr/>
        </p:nvSpPr>
        <p:spPr>
          <a:xfrm>
            <a:off x="548640" y="4160520"/>
            <a:ext cx="6766560" cy="713232"/>
          </a:xfrm>
          <a:prstGeom prst="roundRect">
            <a:avLst>
              <a:gd name="adj" fmla="val 12821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31520" y="4288536"/>
            <a:ext cx="457200" cy="457200"/>
          </a:xfrm>
          <a:prstGeom prst="ellipse">
            <a:avLst/>
          </a:prstGeom>
          <a:solidFill>
            <a:srgbClr val="35E6F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3152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417320" y="425196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Crear y validar una build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1417320" y="45262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Agregar componentes y ejecutar la verificación de compatibilidad.</a:t>
            </a:r>
            <a:endParaRPr lang="en-US" sz="1150" dirty="0"/>
          </a:p>
        </p:txBody>
      </p:sp>
      <p:sp>
        <p:nvSpPr>
          <p:cNvPr id="28" name="Paso 5"/>
          <p:cNvSpPr/>
          <p:nvPr/>
        </p:nvSpPr>
        <p:spPr>
          <a:xfrm>
            <a:off x="548640" y="4983480"/>
            <a:ext cx="6766560" cy="713232"/>
          </a:xfrm>
          <a:prstGeom prst="roundRect">
            <a:avLst>
              <a:gd name="adj" fmla="val 12821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31520" y="5111496"/>
            <a:ext cx="457200" cy="457200"/>
          </a:xfrm>
          <a:prstGeom prst="ellipse">
            <a:avLst/>
          </a:prstGeom>
          <a:solidFill>
            <a:srgbClr val="35E6FF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3152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4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1417320" y="507492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Estimar y recibir recomendaciones</a:t>
            </a:r>
            <a:endParaRPr lang="en-US" sz="1350" dirty="0"/>
          </a:p>
        </p:txBody>
      </p:sp>
      <p:sp>
        <p:nvSpPr>
          <p:cNvPr id="32" name="Text 29"/>
          <p:cNvSpPr txBox="1"/>
          <p:nvPr/>
        </p:nvSpPr>
        <p:spPr>
          <a:xfrm>
            <a:off x="1417320" y="5349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Costo total, sugerencias de mejora y notificación registrada.</a:t>
            </a:r>
            <a:endParaRPr lang="en-US" sz="1150" dirty="0"/>
          </a:p>
        </p:txBody>
      </p:sp>
      <p:sp>
        <p:nvSpPr>
          <p:cNvPr id="33" name="Recursos"/>
          <p:cNvSpPr/>
          <p:nvPr/>
        </p:nvSpPr>
        <p:spPr>
          <a:xfrm>
            <a:off x="7589520" y="1691640"/>
            <a:ext cx="4050792" cy="4005072"/>
          </a:xfrm>
          <a:prstGeom prst="roundRect">
            <a:avLst>
              <a:gd name="adj" fmla="val 2283"/>
            </a:avLst>
          </a:prstGeom>
          <a:solidFill>
            <a:srgbClr val="0D2743"/>
          </a:solidFill>
          <a:ln w="9525">
            <a:solidFill>
              <a:srgbClr val="18496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863840" y="1874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Recursos de la demo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7863840" y="242316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35E6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Swagger UI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http://localhost:{puerto}/swagger-ui/index.html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35E6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Despliegue en Render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api-gateway-tzkw.onrender.com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35E6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Perfiles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h2 (desarrollo) · mysql (Docker) · render (producción)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35E6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Usuarios de prueba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F4FB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admin@tarrobuild.cl (ADMIN) · user@test.com (USER)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566160"/>
            <a:ext cx="5486400" cy="5486400"/>
          </a:xfrm>
          <a:prstGeom prst="ellipse">
            <a:avLst/>
          </a:prstGeom>
          <a:solidFill>
            <a:srgbClr val="0D274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031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4F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¿Preguntas?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747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B8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TarroBuild — Evaluación Parcial 2  |  BDY1103 Taller Base de Datos  |  Duoc UC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931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5E6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Sebastián Bello · Juan Pablo Casassa · Claudio Jaime · Lucas Vargas</a:t>
            </a:r>
            <a:endParaRPr lang="en-US" sz="1300" dirty="0"/>
          </a:p>
        </p:txBody>
      </p:sp>
      <p:sp>
        <p:nvSpPr>
          <p:cNvPr id="6" name="Logo fondo"/>
          <p:cNvSpPr/>
          <p:nvPr/>
        </p:nvSpPr>
        <p:spPr>
          <a:xfrm>
            <a:off x="822960" y="5486400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pic>
        <p:nvPicPr>
          <p:cNvPr id="7" name="Image 0" descr="Duoc U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5577840"/>
            <a:ext cx="1517904" cy="3776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TarroBuild — Evaluación Parcial 2</dc:title>
  <dc:subject>PptxGenJS Presentation</dc:subject>
  <dc:creator>Equipo TarroBuild</dc:creator>
  <cp:lastModifiedBy>Equipo TarroBuild</cp:lastModifiedBy>
  <cp:revision>1</cp:revision>
  <dcterms:created xsi:type="dcterms:W3CDTF">2026-10-05T23:45:58Z</dcterms:created>
  <dcterms:modified xsi:type="dcterms:W3CDTF">2026-10-05T23:45:58Z</dcterms:modified>
</cp:coreProperties>
</file>